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2" r:id="rId9"/>
    <p:sldId id="271" r:id="rId10"/>
    <p:sldId id="263" r:id="rId11"/>
    <p:sldId id="264" r:id="rId12"/>
    <p:sldId id="265" r:id="rId13"/>
    <p:sldId id="266" r:id="rId14"/>
    <p:sldId id="268" r:id="rId15"/>
    <p:sldId id="269" r:id="rId16"/>
    <p:sldId id="270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-1276" y="-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6/17/2026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config-drift-detector.onrender.com/" TargetMode="External"/><Relationship Id="rId2" Type="http://schemas.openxmlformats.org/officeDocument/2006/relationships/hyperlink" Target="https://github.com/saicharan-122/Config-Drift-Detector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35413"/>
            <a:ext cx="7772400" cy="1470025"/>
          </a:xfrm>
        </p:spPr>
        <p:txBody>
          <a:bodyPr/>
          <a:lstStyle/>
          <a:p>
            <a:pPr>
              <a:defRPr sz="4000" b="1">
                <a:solidFill>
                  <a:srgbClr val="FFFFFF"/>
                </a:solidFill>
                <a:latin typeface="Segoe UI"/>
              </a:defRPr>
            </a:pPr>
            <a:r>
              <a:rPr smtClean="0"/>
              <a:t>Configuration </a:t>
            </a:r>
            <a:r>
              <a:t>Drift Detector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889115"/>
            <a:ext cx="6400800" cy="1752600"/>
          </a:xfrm>
        </p:spPr>
        <p:txBody>
          <a:bodyPr>
            <a:normAutofit fontScale="85000" lnSpcReduction="10000"/>
          </a:bodyPr>
          <a:lstStyle/>
          <a:p>
            <a:pPr>
              <a:defRPr sz="2000" b="0">
                <a:solidFill>
                  <a:srgbClr val="B4BEC8"/>
                </a:solidFill>
                <a:latin typeface="Segoe UI"/>
              </a:defRPr>
            </a:pPr>
            <a:r>
              <a:t>Team 04 | UC ID: IM-04 | Infra Maintenance Category</a:t>
            </a:r>
          </a:p>
          <a:p>
            <a:pPr>
              <a:defRPr sz="2000" b="0">
                <a:solidFill>
                  <a:srgbClr val="B4BEC8"/>
                </a:solidFill>
                <a:latin typeface="Segoe UI"/>
              </a:defRPr>
            </a:pPr>
            <a:r>
              <a:t>Infinite Computer Solutions Placement </a:t>
            </a:r>
            <a:r>
              <a:rPr/>
              <a:t>Drive </a:t>
            </a:r>
          </a:p>
          <a:p>
            <a:pPr>
              <a:defRPr sz="2000" b="0">
                <a:solidFill>
                  <a:srgbClr val="B4BEC8"/>
                </a:solidFill>
                <a:latin typeface="Segoe UI"/>
              </a:defRPr>
            </a:pPr>
            <a:endParaRPr/>
          </a:p>
          <a:p>
            <a:pPr>
              <a:defRPr sz="2000" b="0">
                <a:solidFill>
                  <a:srgbClr val="B4BEC8"/>
                </a:solidFill>
                <a:latin typeface="Segoe UI"/>
              </a:defRPr>
            </a:pPr>
            <a:r>
              <a:t>GitHub: </a:t>
            </a:r>
            <a:r>
              <a:rPr>
                <a:hlinkClick r:id="rId2"/>
              </a:rPr>
              <a:t>https://</a:t>
            </a:r>
            <a:r>
              <a:rPr smtClean="0">
                <a:hlinkClick r:id="rId2"/>
              </a:rPr>
              <a:t>github.com/saicharan-122/Config-Drift-Detector</a:t>
            </a:r>
            <a:endParaRPr lang="en-US" dirty="0" smtClean="0"/>
          </a:p>
          <a:p>
            <a:pPr>
              <a:defRPr sz="2000" b="0">
                <a:solidFill>
                  <a:srgbClr val="B4BEC8"/>
                </a:solidFill>
                <a:latin typeface="Segoe UI"/>
              </a:defRPr>
            </a:pPr>
            <a:endParaRPr/>
          </a:p>
          <a:p>
            <a:pPr>
              <a:defRPr sz="2000" b="0">
                <a:solidFill>
                  <a:srgbClr val="B4BEC8"/>
                </a:solidFill>
                <a:latin typeface="Segoe UI"/>
              </a:defRPr>
            </a:pPr>
            <a:r>
              <a:t>Live: </a:t>
            </a:r>
            <a:r>
              <a:rPr>
                <a:hlinkClick r:id="rId3"/>
              </a:rPr>
              <a:t>https://</a:t>
            </a:r>
            <a:r>
              <a:rPr smtClean="0">
                <a:hlinkClick r:id="rId3"/>
              </a:rPr>
              <a:t>config-drift-detector.onrender.com</a:t>
            </a:r>
            <a:endParaRPr lang="en-US" dirty="0" smtClean="0"/>
          </a:p>
          <a:p>
            <a:pPr>
              <a:defRPr sz="2000" b="0">
                <a:solidFill>
                  <a:srgbClr val="B4BEC8"/>
                </a:solidFill>
                <a:latin typeface="Segoe UI"/>
              </a:defRPr>
            </a:pP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E676"/>
                </a:solidFill>
                <a:latin typeface="Segoe UI"/>
              </a:defRPr>
            </a:pPr>
            <a:r>
              <a:t>Meet the Developer Team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828800"/>
          <a:ext cx="8229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828800"/>
                <a:gridCol w="32004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STUDENT NAME</a:t>
                      </a:r>
                    </a:p>
                  </a:txBody>
                  <a:tcPr>
                    <a:solidFill>
                      <a:srgbClr val="141C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ROLL NUMBER</a:t>
                      </a:r>
                    </a:p>
                  </a:txBody>
                  <a:tcPr>
                    <a:solidFill>
                      <a:srgbClr val="141C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BRANCH / SPECIALIZATION</a:t>
                      </a:r>
                    </a:p>
                  </a:txBody>
                  <a:tcPr>
                    <a:solidFill>
                      <a:srgbClr val="141C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Pappala Devi Sai Charan</a:t>
                      </a:r>
                    </a:p>
                  </a:txBody>
                  <a:tcPr>
                    <a:solidFill>
                      <a:srgbClr val="0B11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E676"/>
                          </a:solidFill>
                          <a:latin typeface="Segoe UI"/>
                        </a:defRPr>
                      </a:pPr>
                      <a:r>
                        <a:t>23U41A0542</a:t>
                      </a:r>
                    </a:p>
                  </a:txBody>
                  <a:tcPr>
                    <a:solidFill>
                      <a:srgbClr val="0B11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B4BEC8"/>
                          </a:solidFill>
                          <a:latin typeface="Segoe UI"/>
                        </a:defRPr>
                      </a:pPr>
                      <a:r>
                        <a:t>CSE</a:t>
                      </a:r>
                    </a:p>
                  </a:txBody>
                  <a:tcPr>
                    <a:solidFill>
                      <a:srgbClr val="0B112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Pentakota Tanuja</a:t>
                      </a:r>
                    </a:p>
                  </a:txBody>
                  <a:tcPr>
                    <a:solidFill>
                      <a:srgbClr val="141C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E676"/>
                          </a:solidFill>
                          <a:latin typeface="Segoe UI"/>
                        </a:defRPr>
                      </a:pPr>
                      <a:r>
                        <a:t>23U41A0545</a:t>
                      </a:r>
                    </a:p>
                  </a:txBody>
                  <a:tcPr>
                    <a:solidFill>
                      <a:srgbClr val="141C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B4BEC8"/>
                          </a:solidFill>
                          <a:latin typeface="Segoe UI"/>
                        </a:defRPr>
                      </a:pPr>
                      <a:r>
                        <a:t>CSE</a:t>
                      </a:r>
                    </a:p>
                  </a:txBody>
                  <a:tcPr>
                    <a:solidFill>
                      <a:srgbClr val="141C2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Bevara Lize</a:t>
                      </a:r>
                    </a:p>
                  </a:txBody>
                  <a:tcPr>
                    <a:solidFill>
                      <a:srgbClr val="0B11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E676"/>
                          </a:solidFill>
                          <a:latin typeface="Segoe UI"/>
                        </a:defRPr>
                      </a:pPr>
                      <a:r>
                        <a:t>23U41A4405</a:t>
                      </a:r>
                    </a:p>
                  </a:txBody>
                  <a:tcPr>
                    <a:solidFill>
                      <a:srgbClr val="0B112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B4BEC8"/>
                          </a:solidFill>
                          <a:latin typeface="Segoe UI"/>
                        </a:defRPr>
                      </a:pPr>
                      <a:r>
                        <a:t>CSD</a:t>
                      </a:r>
                    </a:p>
                  </a:txBody>
                  <a:tcPr>
                    <a:solidFill>
                      <a:srgbClr val="0B112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Peela Divya Santhoshi Lakshmi</a:t>
                      </a:r>
                    </a:p>
                  </a:txBody>
                  <a:tcPr>
                    <a:solidFill>
                      <a:srgbClr val="141C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00E676"/>
                          </a:solidFill>
                          <a:latin typeface="Segoe UI"/>
                        </a:defRPr>
                      </a:pPr>
                      <a:r>
                        <a:t>24U45A0423</a:t>
                      </a:r>
                    </a:p>
                  </a:txBody>
                  <a:tcPr>
                    <a:solidFill>
                      <a:srgbClr val="141C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B4BEC8"/>
                          </a:solidFill>
                          <a:latin typeface="Segoe UI"/>
                        </a:defRPr>
                      </a:pPr>
                      <a:r>
                        <a:t>ECE</a:t>
                      </a:r>
                    </a:p>
                  </a:txBody>
                  <a:tcPr>
                    <a:solidFill>
                      <a:srgbClr val="141C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E676"/>
                </a:solidFill>
                <a:latin typeface="Segoe UI"/>
              </a:defRPr>
            </a:pPr>
            <a:r>
              <a:t>Introduction &amp;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3932" y="1245140"/>
            <a:ext cx="8229600" cy="4525963"/>
          </a:xfrm>
        </p:spPr>
        <p:txBody>
          <a:bodyPr wrap="square">
            <a:normAutofit/>
          </a:bodyPr>
          <a:lstStyle/>
          <a:p>
            <a:pPr>
              <a:buNone/>
              <a:defRPr sz="2200">
                <a:solidFill>
                  <a:srgbClr val="DCDCE6"/>
                </a:solidFill>
                <a:latin typeface="Segoe UI"/>
              </a:defRPr>
            </a:pPr>
            <a:endParaRPr/>
          </a:p>
          <a:p>
            <a:pPr>
              <a:defRPr sz="2200">
                <a:solidFill>
                  <a:srgbClr val="DCDCE6"/>
                </a:solidFill>
                <a:latin typeface="Segoe UI"/>
              </a:defRPr>
            </a:pPr>
            <a:r>
              <a:t>This project introduces an AI-Powered Configuration Drift Detector.</a:t>
            </a:r>
          </a:p>
          <a:p>
            <a:pPr>
              <a:defRPr sz="2200">
                <a:solidFill>
                  <a:srgbClr val="DCDCE6"/>
                </a:solidFill>
                <a:latin typeface="Segoe UI"/>
              </a:defRPr>
            </a:pPr>
            <a:r>
              <a:t>It automatically identifies differences between intended and actual system configurations.</a:t>
            </a:r>
          </a:p>
          <a:p>
            <a:pPr>
              <a:defRPr sz="2200">
                <a:solidFill>
                  <a:srgbClr val="DCDCE6"/>
                </a:solidFill>
                <a:latin typeface="Segoe UI"/>
              </a:defRPr>
            </a:pPr>
            <a:r>
              <a:t>Provides deep insights, generates detailed reports, and calculates risk scores to help maintain infrastructure integrity.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yi5flXNpzC365l1KxdE_8lEHmVQP1CQDB22SqtiFYWMKyzE5rWWr5WGxMx_qlDnWuV2oBL60zdO5eyvw-_c8clqXfqZ1XellwVRh4N_29blpiH-nkzI-u-Uqb-Ak5rVlVojdgDiu4Y6BKp1reIgzrQGciFVYNoeizr4zRgblwAc3c7gGa3o0l7iXRuFyKLwa.jf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1794" y="4005207"/>
            <a:ext cx="4499262" cy="253034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1303" y="259882"/>
            <a:ext cx="7772400" cy="1183907"/>
          </a:xfrm>
        </p:spPr>
        <p:txBody>
          <a:bodyPr>
            <a:normAutofit/>
          </a:bodyPr>
          <a:lstStyle/>
          <a:p>
            <a:pPr>
              <a:defRPr sz="3200" b="1">
                <a:solidFill>
                  <a:srgbClr val="00E676"/>
                </a:solidFill>
                <a:latin typeface="Segoe UI"/>
              </a:defRPr>
            </a:pPr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subTitle" idx="1"/>
          </p:nvPr>
        </p:nvSpPr>
        <p:spPr>
          <a:xfrm>
            <a:off x="317634" y="1703672"/>
            <a:ext cx="4456497" cy="4604766"/>
          </a:xfrm>
        </p:spPr>
        <p:txBody>
          <a:bodyPr wrap="square">
            <a:normAutofit fontScale="92500" lnSpcReduction="10000"/>
          </a:bodyPr>
          <a:lstStyle/>
          <a:p>
            <a:endParaRPr lang="en-US" dirty="0" smtClean="0"/>
          </a:p>
          <a:p>
            <a:pPr algn="l">
              <a:buFont typeface="Arial" pitchFamily="34" charset="0"/>
              <a:buChar char="•"/>
              <a:defRPr sz="2200">
                <a:solidFill>
                  <a:srgbClr val="DCDCE6"/>
                </a:solidFill>
                <a:latin typeface="Segoe UI"/>
              </a:defRPr>
            </a:pPr>
            <a:r>
              <a:rPr lang="en-US" dirty="0" smtClean="0"/>
              <a:t>  Manual </a:t>
            </a:r>
            <a:r>
              <a:rPr lang="en-US" dirty="0" smtClean="0"/>
              <a:t>configuration management </a:t>
            </a:r>
            <a:r>
              <a:rPr lang="en-US" dirty="0" smtClean="0"/>
              <a:t>        is </a:t>
            </a:r>
            <a:r>
              <a:rPr lang="en-US" dirty="0" smtClean="0"/>
              <a:t>error-prone and time-consuming</a:t>
            </a:r>
            <a:r>
              <a:rPr lang="en-US" dirty="0" smtClean="0"/>
              <a:t>.</a:t>
            </a:r>
          </a:p>
          <a:p>
            <a:pPr algn="l">
              <a:buFont typeface="Arial" pitchFamily="34" charset="0"/>
              <a:buChar char="•"/>
              <a:defRPr sz="2200">
                <a:solidFill>
                  <a:srgbClr val="DCDCE6"/>
                </a:solidFill>
                <a:latin typeface="Segoe UI"/>
              </a:defRPr>
            </a:pPr>
            <a:endParaRPr lang="en-US" dirty="0" smtClean="0"/>
          </a:p>
          <a:p>
            <a:pPr algn="l">
              <a:buFont typeface="Arial" pitchFamily="34" charset="0"/>
              <a:buChar char="•"/>
              <a:defRPr sz="2200">
                <a:solidFill>
                  <a:srgbClr val="DCDCE6"/>
                </a:solidFill>
                <a:latin typeface="Segoe UI"/>
              </a:defRPr>
            </a:pPr>
            <a:r>
              <a:rPr lang="en-US" dirty="0" smtClean="0"/>
              <a:t>  Undetected </a:t>
            </a:r>
            <a:r>
              <a:rPr lang="en-US" dirty="0" smtClean="0"/>
              <a:t>configuration drifts can lead to security vulnerabilities, compliance issues, and system outages</a:t>
            </a:r>
            <a:r>
              <a:rPr lang="en-US" dirty="0" smtClean="0"/>
              <a:t>.</a:t>
            </a:r>
          </a:p>
          <a:p>
            <a:pPr algn="l">
              <a:buFont typeface="Arial" pitchFamily="34" charset="0"/>
              <a:buChar char="•"/>
              <a:defRPr sz="2200">
                <a:solidFill>
                  <a:srgbClr val="DCDCE6"/>
                </a:solidFill>
                <a:latin typeface="Segoe UI"/>
              </a:defRPr>
            </a:pPr>
            <a:endParaRPr lang="en-US" dirty="0" smtClean="0"/>
          </a:p>
          <a:p>
            <a:pPr algn="l">
              <a:buFont typeface="Arial" pitchFamily="34" charset="0"/>
              <a:buChar char="•"/>
              <a:defRPr sz="2200">
                <a:solidFill>
                  <a:srgbClr val="DCDCE6"/>
                </a:solidFill>
                <a:latin typeface="Segoe UI"/>
              </a:defRPr>
            </a:pPr>
            <a:r>
              <a:rPr lang="en-US" dirty="0" smtClean="0"/>
              <a:t>  There </a:t>
            </a:r>
            <a:r>
              <a:rPr lang="en-US" dirty="0" smtClean="0"/>
              <a:t>is a need for an automated solution that not only detects changes but also assesses their impact and provides actionable insights.</a:t>
            </a:r>
          </a:p>
          <a:p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ChatGPT Image Jun 18, 2026, 08_03_05 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3264" y="1284051"/>
            <a:ext cx="3349591" cy="502438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E676"/>
                </a:solidFill>
                <a:latin typeface="Segoe UI"/>
              </a:defRPr>
            </a:pPr>
            <a:r>
              <a:t>Proposed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54868"/>
            <a:ext cx="8229600" cy="4525963"/>
          </a:xfrm>
        </p:spPr>
        <p:txBody>
          <a:bodyPr wrap="square"/>
          <a:lstStyle/>
          <a:p>
            <a:endParaRPr/>
          </a:p>
          <a:p>
            <a:pPr>
              <a:defRPr sz="2200">
                <a:solidFill>
                  <a:srgbClr val="DCDCE6"/>
                </a:solidFill>
                <a:latin typeface="Segoe UI"/>
              </a:defRPr>
            </a:pPr>
            <a:r>
              <a:t>An intelligent web-based platform comparing 'intended' and 'actual' configurations.</a:t>
            </a:r>
          </a:p>
          <a:p>
            <a:pPr>
              <a:defRPr sz="2200">
                <a:solidFill>
                  <a:srgbClr val="DCDCE6"/>
                </a:solidFill>
                <a:latin typeface="Segoe UI"/>
              </a:defRPr>
            </a:pPr>
            <a:r>
              <a:t>Utilizes backend file processing to accurately pinpoint file-level and content-level discrepancies.</a:t>
            </a:r>
          </a:p>
          <a:p>
            <a:pPr>
              <a:defRPr sz="2200">
                <a:solidFill>
                  <a:srgbClr val="DCDCE6"/>
                </a:solidFill>
                <a:latin typeface="Segoe UI"/>
              </a:defRPr>
            </a:pPr>
            <a:r>
              <a:t>Integrates with Google Gemini API to analyze detected drifts and explain potential impact.</a:t>
            </a:r>
          </a:p>
          <a:p>
            <a:pPr>
              <a:defRPr sz="2200">
                <a:solidFill>
                  <a:srgbClr val="DCDCE6"/>
                </a:solidFill>
                <a:latin typeface="Segoe UI"/>
              </a:defRPr>
            </a:pPr>
            <a:r>
              <a:rPr smtClean="0"/>
              <a:t>Automatically </a:t>
            </a:r>
            <a:r>
              <a:t>calculates a Risk Score to prioritize remediation efforts.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E676"/>
                </a:solidFill>
                <a:latin typeface="Segoe UI"/>
              </a:defRPr>
            </a:pPr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25686"/>
            <a:ext cx="8229600" cy="4525963"/>
          </a:xfrm>
        </p:spPr>
        <p:txBody>
          <a:bodyPr wrap="square">
            <a:normAutofit fontScale="92500"/>
          </a:bodyPr>
          <a:lstStyle/>
          <a:p>
            <a:endParaRPr/>
          </a:p>
          <a:p>
            <a:pPr>
              <a:defRPr sz="2200">
                <a:solidFill>
                  <a:srgbClr val="DCDCE6"/>
                </a:solidFill>
                <a:latin typeface="Segoe UI"/>
              </a:defRPr>
            </a:pPr>
            <a:r>
              <a:t>Configuration Drift Detection: Accurate file and content comparison.</a:t>
            </a:r>
          </a:p>
          <a:p>
            <a:pPr>
              <a:defRPr sz="2200">
                <a:solidFill>
                  <a:srgbClr val="DCDCE6"/>
                </a:solidFill>
                <a:latin typeface="Segoe UI"/>
              </a:defRPr>
            </a:pPr>
            <a:r>
              <a:t>Risk Assessment: Automated calculation of risk scores based on drift severity.</a:t>
            </a:r>
          </a:p>
          <a:p>
            <a:pPr>
              <a:defRPr sz="2200">
                <a:solidFill>
                  <a:srgbClr val="DCDCE6"/>
                </a:solidFill>
                <a:latin typeface="Segoe UI"/>
              </a:defRPr>
            </a:pPr>
            <a:r>
              <a:t>Dashboard Analytics: Visual representation of infrastructure health.</a:t>
            </a:r>
          </a:p>
          <a:p>
            <a:pPr>
              <a:defRPr sz="2200">
                <a:solidFill>
                  <a:srgbClr val="DCDCE6"/>
                </a:solidFill>
                <a:latin typeface="Segoe UI"/>
              </a:defRPr>
            </a:pPr>
            <a:r>
              <a:t>Exportable Reports: Generate comprehensive reports in PDF and Markdown formats.</a:t>
            </a:r>
          </a:p>
          <a:p>
            <a:pPr>
              <a:defRPr sz="2200">
                <a:solidFill>
                  <a:srgbClr val="DCDCE6"/>
                </a:solidFill>
                <a:latin typeface="Segoe UI"/>
              </a:defRPr>
            </a:pPr>
            <a:r>
              <a:t>History Tracking: Maintain a log of past scans and configuration states.</a:t>
            </a:r>
          </a:p>
          <a:p>
            <a:pPr>
              <a:defRPr sz="2200">
                <a:solidFill>
                  <a:srgbClr val="DCDCE6"/>
                </a:solidFill>
                <a:latin typeface="Segoe UI"/>
              </a:defRPr>
            </a:pPr>
            <a:r>
              <a:t>AI Integration: Advanced analysis powered by Google Gemini API.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E676"/>
                </a:solidFill>
                <a:latin typeface="Segoe UI"/>
              </a:defRPr>
            </a:pPr>
            <a:r>
              <a:t>How It Works (Workflow)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45140"/>
            <a:ext cx="8229600" cy="4525963"/>
          </a:xfrm>
        </p:spPr>
        <p:txBody>
          <a:bodyPr wrap="square"/>
          <a:lstStyle/>
          <a:p>
            <a:endParaRPr/>
          </a:p>
          <a:p>
            <a:pPr>
              <a:defRPr sz="2200">
                <a:solidFill>
                  <a:srgbClr val="DCDCE6"/>
                </a:solidFill>
                <a:latin typeface="Segoe UI"/>
              </a:defRPr>
            </a:pPr>
            <a:r>
              <a:t>Step 1: Upload Configurations</a:t>
            </a:r>
          </a:p>
          <a:p>
            <a:pPr lvl="1">
              <a:defRPr sz="1800">
                <a:solidFill>
                  <a:srgbClr val="DCDCE6"/>
                </a:solidFill>
                <a:latin typeface="Segoe UI"/>
              </a:defRPr>
            </a:pPr>
            <a:r>
              <a:t>User uploads 'Intended' and 'Actual' directories via the web portal.</a:t>
            </a:r>
          </a:p>
          <a:p>
            <a:pPr>
              <a:defRPr sz="2200">
                <a:solidFill>
                  <a:srgbClr val="DCDCE6"/>
                </a:solidFill>
                <a:latin typeface="Segoe UI"/>
              </a:defRPr>
            </a:pPr>
            <a:r>
              <a:t>Step 2: File Comparison</a:t>
            </a:r>
          </a:p>
          <a:p>
            <a:pPr lvl="1">
              <a:defRPr sz="1800">
                <a:solidFill>
                  <a:srgbClr val="DCDCE6"/>
                </a:solidFill>
                <a:latin typeface="Segoe UI"/>
              </a:defRPr>
            </a:pPr>
            <a:r>
              <a:t>Backend scans both directories and flags missing, extra, or modified files.</a:t>
            </a:r>
          </a:p>
          <a:p>
            <a:pPr>
              <a:defRPr sz="2200">
                <a:solidFill>
                  <a:srgbClr val="DCDCE6"/>
                </a:solidFill>
                <a:latin typeface="Segoe UI"/>
              </a:defRPr>
            </a:pPr>
            <a:r>
              <a:t>Step 3: AI Analysis</a:t>
            </a:r>
          </a:p>
          <a:p>
            <a:pPr lvl="1">
              <a:defRPr sz="1800">
                <a:solidFill>
                  <a:srgbClr val="DCDCE6"/>
                </a:solidFill>
                <a:latin typeface="Segoe UI"/>
              </a:defRPr>
            </a:pPr>
            <a:r>
              <a:t>Gemini API evaluates differences to assess the severity of drifts.</a:t>
            </a:r>
          </a:p>
          <a:p>
            <a:pPr>
              <a:defRPr sz="2200">
                <a:solidFill>
                  <a:srgbClr val="DCDCE6"/>
                </a:solidFill>
                <a:latin typeface="Segoe UI"/>
              </a:defRPr>
            </a:pPr>
            <a:r>
              <a:t>Step 4: Dashboard &amp; Reporting</a:t>
            </a:r>
          </a:p>
          <a:p>
            <a:pPr lvl="1">
              <a:defRPr sz="1800">
                <a:solidFill>
                  <a:srgbClr val="DCDCE6"/>
                </a:solidFill>
                <a:latin typeface="Segoe UI"/>
              </a:defRPr>
            </a:pPr>
            <a:r>
              <a:t>Results are displayed on a dynamic dashboard and exported as PDF/Markdown.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E676"/>
                </a:solidFill>
                <a:latin typeface="Segoe UI"/>
              </a:defRPr>
            </a:pPr>
            <a:r>
              <a:rPr lang="en-US" dirty="0" smtClean="0"/>
              <a:t>Process Representation</a:t>
            </a:r>
            <a:endParaRPr/>
          </a:p>
        </p:txBody>
      </p:sp>
      <p:pic>
        <p:nvPicPr>
          <p:cNvPr id="5" name="Content Placeholder 4" descr="Merged_Dashboard_Steps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3485" y="1555885"/>
            <a:ext cx="8053315" cy="4525963"/>
          </a:xfrm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E676"/>
                </a:solidFill>
                <a:latin typeface="Segoe UI"/>
              </a:defRPr>
            </a:pPr>
            <a:r>
              <a:rPr lang="en-US" sz="3200" b="1" dirty="0" smtClean="0"/>
              <a:t>System Architecture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45140"/>
            <a:ext cx="8229600" cy="4525963"/>
          </a:xfrm>
        </p:spPr>
        <p:txBody>
          <a:bodyPr wrap="square">
            <a:normAutofit/>
          </a:bodyPr>
          <a:lstStyle/>
          <a:p>
            <a:r>
              <a:rPr lang="en-US" dirty="0" smtClean="0"/>
              <a:t>User</a:t>
            </a:r>
          </a:p>
          <a:p>
            <a:r>
              <a:rPr lang="en-US" dirty="0" smtClean="0"/>
              <a:t> ↓</a:t>
            </a:r>
          </a:p>
          <a:p>
            <a:r>
              <a:rPr lang="en-US" dirty="0" smtClean="0"/>
              <a:t>Drift Detection Engine</a:t>
            </a:r>
          </a:p>
          <a:p>
            <a:r>
              <a:rPr lang="en-US" dirty="0" smtClean="0"/>
              <a:t> ↓</a:t>
            </a:r>
          </a:p>
          <a:p>
            <a:r>
              <a:rPr lang="en-US" dirty="0" smtClean="0"/>
              <a:t>Gemini AI</a:t>
            </a:r>
          </a:p>
          <a:p>
            <a:r>
              <a:rPr lang="en-US" dirty="0" smtClean="0"/>
              <a:t> ↓</a:t>
            </a:r>
          </a:p>
          <a:p>
            <a:r>
              <a:rPr lang="en-US" dirty="0" smtClean="0"/>
              <a:t>Risk Score + Reports</a:t>
            </a:r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ChatGPT Image Jun 16, 2026, 10_54_40 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575" y="1089497"/>
            <a:ext cx="7723762" cy="514917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E676"/>
                </a:solidFill>
                <a:latin typeface="Segoe UI"/>
              </a:defRPr>
            </a:pPr>
            <a:r>
              <a:t>AI Integration (Google Gemini API)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4596"/>
            <a:ext cx="8229600" cy="4525963"/>
          </a:xfrm>
        </p:spPr>
        <p:txBody>
          <a:bodyPr wrap="square"/>
          <a:lstStyle/>
          <a:p>
            <a:endParaRPr/>
          </a:p>
          <a:p>
            <a:pPr>
              <a:defRPr sz="2200">
                <a:solidFill>
                  <a:srgbClr val="DCDCE6"/>
                </a:solidFill>
                <a:latin typeface="Segoe UI"/>
              </a:defRPr>
            </a:pPr>
            <a:r>
              <a:t>The system leverages the Google Gemini API to add an intelligent layer to traditional drift detection.</a:t>
            </a:r>
          </a:p>
          <a:p>
            <a:pPr>
              <a:defRPr sz="2200">
                <a:solidFill>
                  <a:srgbClr val="DCDCE6"/>
                </a:solidFill>
                <a:latin typeface="Segoe UI"/>
              </a:defRPr>
            </a:pPr>
            <a:r>
              <a:t>It analyzes the context of the configuration changes, rather than doing a naive diff.</a:t>
            </a:r>
          </a:p>
          <a:p>
            <a:pPr>
              <a:defRPr sz="2200">
                <a:solidFill>
                  <a:srgbClr val="DCDCE6"/>
                </a:solidFill>
                <a:latin typeface="Segoe UI"/>
              </a:defRPr>
            </a:pPr>
            <a:r>
              <a:t>Gemini generates human-readable explanations of what the drift means for system security and stability.</a:t>
            </a:r>
          </a:p>
          <a:p>
            <a:pPr>
              <a:defRPr sz="2200">
                <a:solidFill>
                  <a:srgbClr val="DCDCE6"/>
                </a:solidFill>
                <a:latin typeface="Segoe UI"/>
              </a:defRPr>
            </a:pPr>
            <a:r>
              <a:rPr smtClean="0"/>
              <a:t>This </a:t>
            </a:r>
            <a:r>
              <a:t>reduces the cognitive load on system administrators and speeds up incident response.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E676"/>
                </a:solidFill>
                <a:latin typeface="Segoe UI"/>
              </a:defRPr>
            </a:pPr>
            <a:r>
              <a:t>Risk Scoring 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5957"/>
            <a:ext cx="8229600" cy="4525963"/>
          </a:xfrm>
        </p:spPr>
        <p:txBody>
          <a:bodyPr wrap="square">
            <a:normAutofit lnSpcReduction="10000"/>
          </a:bodyPr>
          <a:lstStyle/>
          <a:p>
            <a:endParaRPr/>
          </a:p>
          <a:p>
            <a:pPr>
              <a:defRPr sz="2200">
                <a:solidFill>
                  <a:srgbClr val="DCDCE6"/>
                </a:solidFill>
                <a:latin typeface="Segoe UI"/>
              </a:defRPr>
            </a:pPr>
            <a:r>
              <a:t>Base Calculation:</a:t>
            </a:r>
          </a:p>
          <a:p>
            <a:pPr lvl="1">
              <a:defRPr sz="1800">
                <a:solidFill>
                  <a:srgbClr val="DCDCE6"/>
                </a:solidFill>
                <a:latin typeface="Segoe UI"/>
              </a:defRPr>
            </a:pPr>
            <a:r>
              <a:t>Each drift is assigned a base severity (Low, Medium, High, Critical) by the AI.</a:t>
            </a:r>
          </a:p>
          <a:p>
            <a:pPr>
              <a:defRPr sz="2200">
                <a:solidFill>
                  <a:srgbClr val="DCDCE6"/>
                </a:solidFill>
                <a:latin typeface="Segoe UI"/>
              </a:defRPr>
            </a:pPr>
            <a:r>
              <a:t>Impact Assessment:</a:t>
            </a:r>
          </a:p>
          <a:p>
            <a:pPr lvl="1">
              <a:defRPr sz="1800">
                <a:solidFill>
                  <a:srgbClr val="DCDCE6"/>
                </a:solidFill>
                <a:latin typeface="Segoe UI"/>
              </a:defRPr>
            </a:pPr>
            <a:r>
              <a:t>The system analyzes whether the change impacts security, performance, or availability.</a:t>
            </a:r>
          </a:p>
          <a:p>
            <a:pPr>
              <a:defRPr sz="2200">
                <a:solidFill>
                  <a:srgbClr val="DCDCE6"/>
                </a:solidFill>
                <a:latin typeface="Segoe UI"/>
              </a:defRPr>
            </a:pPr>
            <a:r>
              <a:t>Final Risk Score:</a:t>
            </a:r>
          </a:p>
          <a:p>
            <a:pPr lvl="1">
              <a:defRPr sz="1800">
                <a:solidFill>
                  <a:srgbClr val="DCDCE6"/>
                </a:solidFill>
                <a:latin typeface="Segoe UI"/>
              </a:defRPr>
            </a:pPr>
            <a:r>
              <a:t>A numerical score (0-100) is generated. Scores &gt; 80 trigger high-priority alerts.</a:t>
            </a:r>
          </a:p>
          <a:p>
            <a:pPr>
              <a:defRPr sz="2200">
                <a:solidFill>
                  <a:srgbClr val="DCDCE6"/>
                </a:solidFill>
                <a:latin typeface="Segoe UI"/>
              </a:defRPr>
            </a:pPr>
            <a:r>
              <a:t>Prioritization:</a:t>
            </a:r>
          </a:p>
          <a:p>
            <a:pPr lvl="1">
              <a:defRPr sz="1800">
                <a:solidFill>
                  <a:srgbClr val="DCDCE6"/>
                </a:solidFill>
                <a:latin typeface="Segoe UI"/>
              </a:defRPr>
            </a:pPr>
            <a:r>
              <a:t>Enables teams to tackle critical misconfigurations before minor cosmetic changes.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E676"/>
                </a:solidFill>
                <a:latin typeface="Segoe UI"/>
              </a:defRPr>
            </a:pPr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3779"/>
            <a:ext cx="8229600" cy="4525963"/>
          </a:xfrm>
        </p:spPr>
        <p:txBody>
          <a:bodyPr wrap="square"/>
          <a:lstStyle/>
          <a:p>
            <a:endParaRPr/>
          </a:p>
          <a:p>
            <a:pPr>
              <a:defRPr sz="2200">
                <a:solidFill>
                  <a:srgbClr val="DCDCE6"/>
                </a:solidFill>
                <a:latin typeface="Segoe UI"/>
              </a:defRPr>
            </a:pPr>
            <a:r>
              <a:t>Frontend:</a:t>
            </a:r>
          </a:p>
          <a:p>
            <a:pPr lvl="1">
              <a:defRPr sz="1800">
                <a:solidFill>
                  <a:srgbClr val="DCDCE6"/>
                </a:solidFill>
                <a:latin typeface="Segoe UI"/>
              </a:defRPr>
            </a:pPr>
            <a:r>
              <a:rPr smtClean="0"/>
              <a:t>HTML</a:t>
            </a:r>
            <a:endParaRPr/>
          </a:p>
          <a:p>
            <a:pPr lvl="1">
              <a:defRPr sz="1800">
                <a:solidFill>
                  <a:srgbClr val="DCDCE6"/>
                </a:solidFill>
                <a:latin typeface="Segoe UI"/>
              </a:defRPr>
            </a:pPr>
            <a:r>
              <a:rPr smtClean="0"/>
              <a:t>CSS</a:t>
            </a:r>
            <a:endParaRPr/>
          </a:p>
          <a:p>
            <a:pPr lvl="1">
              <a:defRPr sz="1800">
                <a:solidFill>
                  <a:srgbClr val="DCDCE6"/>
                </a:solidFill>
                <a:latin typeface="Segoe UI"/>
              </a:defRPr>
            </a:pPr>
            <a:r>
              <a:rPr smtClean="0"/>
              <a:t>JavaScript</a:t>
            </a:r>
            <a:endParaRPr/>
          </a:p>
          <a:p>
            <a:pPr>
              <a:defRPr sz="2200">
                <a:solidFill>
                  <a:srgbClr val="DCDCE6"/>
                </a:solidFill>
                <a:latin typeface="Segoe UI"/>
              </a:defRPr>
            </a:pPr>
            <a:r>
              <a:t>Backend:</a:t>
            </a:r>
          </a:p>
          <a:p>
            <a:pPr lvl="1">
              <a:defRPr sz="1800">
                <a:solidFill>
                  <a:srgbClr val="DCDCE6"/>
                </a:solidFill>
                <a:latin typeface="Segoe UI"/>
              </a:defRPr>
            </a:pPr>
            <a:r>
              <a:rPr smtClean="0"/>
              <a:t>Python</a:t>
            </a:r>
            <a:endParaRPr/>
          </a:p>
          <a:p>
            <a:pPr lvl="1">
              <a:defRPr sz="1800">
                <a:solidFill>
                  <a:srgbClr val="DCDCE6"/>
                </a:solidFill>
                <a:latin typeface="Segoe UI"/>
              </a:defRPr>
            </a:pPr>
            <a:r>
              <a:rPr smtClean="0"/>
              <a:t>FastAPI</a:t>
            </a:r>
            <a:endParaRPr/>
          </a:p>
          <a:p>
            <a:pPr>
              <a:defRPr sz="2200">
                <a:solidFill>
                  <a:srgbClr val="DCDCE6"/>
                </a:solidFill>
                <a:latin typeface="Segoe UI"/>
              </a:defRPr>
            </a:pPr>
            <a:r>
              <a:t>AI / ML:</a:t>
            </a:r>
          </a:p>
          <a:p>
            <a:pPr lvl="1">
              <a:defRPr sz="1800">
                <a:solidFill>
                  <a:srgbClr val="DCDCE6"/>
                </a:solidFill>
                <a:latin typeface="Segoe UI"/>
              </a:defRPr>
            </a:pPr>
            <a:r>
              <a:t>Google </a:t>
            </a:r>
            <a:r>
              <a:rPr/>
              <a:t>Gemini </a:t>
            </a:r>
            <a:r>
              <a:rPr smtClean="0"/>
              <a:t>API</a:t>
            </a:r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ChatGPT Image Jun 18, 2026, 08_18_55 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9769" y="2128319"/>
            <a:ext cx="5319161" cy="301280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E676"/>
                </a:solidFill>
                <a:latin typeface="Segoe UI"/>
              </a:defRPr>
            </a:pPr>
            <a:r>
              <a:t>Project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5957"/>
            <a:ext cx="8229600" cy="4525963"/>
          </a:xfrm>
        </p:spPr>
        <p:txBody>
          <a:bodyPr wrap="square"/>
          <a:lstStyle/>
          <a:p>
            <a:endParaRPr/>
          </a:p>
          <a:p>
            <a:pPr>
              <a:defRPr sz="2200">
                <a:solidFill>
                  <a:srgbClr val="DCDCE6"/>
                </a:solidFill>
                <a:latin typeface="Segoe UI"/>
              </a:defRPr>
            </a:pPr>
            <a:r>
              <a:t>The application is organized into distinct directories for clarity and separation of concerns:</a:t>
            </a:r>
          </a:p>
          <a:p>
            <a:pPr lvl="1">
              <a:defRPr sz="1800">
                <a:solidFill>
                  <a:srgbClr val="DCDCE6"/>
                </a:solidFill>
                <a:latin typeface="Segoe UI"/>
              </a:defRPr>
            </a:pPr>
            <a:r>
              <a:t>/intended: Stores the baseline, approved configuration files.</a:t>
            </a:r>
          </a:p>
          <a:p>
            <a:pPr lvl="1">
              <a:defRPr sz="1800">
                <a:solidFill>
                  <a:srgbClr val="DCDCE6"/>
                </a:solidFill>
                <a:latin typeface="Segoe UI"/>
              </a:defRPr>
            </a:pPr>
            <a:r>
              <a:t>/actual: Stores the current, live configuration files.</a:t>
            </a:r>
          </a:p>
          <a:p>
            <a:pPr lvl="1">
              <a:defRPr sz="1800">
                <a:solidFill>
                  <a:srgbClr val="DCDCE6"/>
                </a:solidFill>
                <a:latin typeface="Segoe UI"/>
              </a:defRPr>
            </a:pPr>
            <a:r>
              <a:t>/backend: Contains the FastAPI application, routing, and logic.</a:t>
            </a:r>
          </a:p>
          <a:p>
            <a:pPr lvl="1">
              <a:defRPr sz="1800">
                <a:solidFill>
                  <a:srgbClr val="DCDCE6"/>
                </a:solidFill>
                <a:latin typeface="Segoe UI"/>
              </a:defRPr>
            </a:pPr>
            <a:r>
              <a:t>/frontend: Contains the UI assets (HTML, CSS, JS).</a:t>
            </a:r>
          </a:p>
          <a:p>
            <a:pPr>
              <a:defRPr sz="2200">
                <a:solidFill>
                  <a:srgbClr val="DCDCE6"/>
                </a:solidFill>
                <a:latin typeface="Segoe UI"/>
              </a:defRPr>
            </a:pPr>
            <a:r>
              <a:t>This modular structure ensures easy maintenance and scalability.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E676"/>
                </a:solidFill>
                <a:latin typeface="Segoe UI"/>
              </a:defRPr>
            </a:pPr>
            <a:r>
              <a:t>Value Proposition &amp;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54868"/>
            <a:ext cx="8229600" cy="4525963"/>
          </a:xfrm>
        </p:spPr>
        <p:txBody>
          <a:bodyPr wrap="square"/>
          <a:lstStyle/>
          <a:p>
            <a:endParaRPr/>
          </a:p>
          <a:p>
            <a:pPr>
              <a:defRPr sz="2200">
                <a:solidFill>
                  <a:srgbClr val="DCDCE6"/>
                </a:solidFill>
                <a:latin typeface="Segoe UI"/>
              </a:defRPr>
            </a:pPr>
            <a:r>
              <a:t>Operational Efficiency:</a:t>
            </a:r>
          </a:p>
          <a:p>
            <a:pPr lvl="1">
              <a:defRPr sz="1800">
                <a:solidFill>
                  <a:srgbClr val="DCDCE6"/>
                </a:solidFill>
                <a:latin typeface="Segoe UI"/>
              </a:defRPr>
            </a:pPr>
            <a:r>
              <a:t>Reduces manual review time by automating file-by-file comparisons.</a:t>
            </a:r>
          </a:p>
          <a:p>
            <a:pPr>
              <a:defRPr sz="2200">
                <a:solidFill>
                  <a:srgbClr val="DCDCE6"/>
                </a:solidFill>
                <a:latin typeface="Segoe UI"/>
              </a:defRPr>
            </a:pPr>
            <a:r>
              <a:t>Enhanced Security:</a:t>
            </a:r>
          </a:p>
          <a:p>
            <a:pPr lvl="1">
              <a:defRPr sz="1800">
                <a:solidFill>
                  <a:srgbClr val="DCDCE6"/>
                </a:solidFill>
                <a:latin typeface="Segoe UI"/>
              </a:defRPr>
            </a:pPr>
            <a:r>
              <a:t>Detects unauthorized configuration changes before they lead to breaches.</a:t>
            </a:r>
          </a:p>
          <a:p>
            <a:pPr>
              <a:defRPr sz="2200">
                <a:solidFill>
                  <a:srgbClr val="DCDCE6"/>
                </a:solidFill>
                <a:latin typeface="Segoe UI"/>
              </a:defRPr>
            </a:pPr>
            <a:r>
              <a:t>Cost Reduction:</a:t>
            </a:r>
          </a:p>
          <a:p>
            <a:pPr lvl="1">
              <a:defRPr sz="1800">
                <a:solidFill>
                  <a:srgbClr val="DCDCE6"/>
                </a:solidFill>
                <a:latin typeface="Segoe UI"/>
              </a:defRPr>
            </a:pPr>
            <a:r>
              <a:t>Minimizes system downtime through faster incident resolution.</a:t>
            </a:r>
          </a:p>
          <a:p>
            <a:pPr>
              <a:defRPr sz="2200">
                <a:solidFill>
                  <a:srgbClr val="DCDCE6"/>
                </a:solidFill>
                <a:latin typeface="Segoe UI"/>
              </a:defRPr>
            </a:pPr>
            <a:r>
              <a:t>Compliance Readiness:</a:t>
            </a:r>
          </a:p>
          <a:p>
            <a:pPr lvl="1">
              <a:defRPr sz="1800">
                <a:solidFill>
                  <a:srgbClr val="DCDCE6"/>
                </a:solidFill>
                <a:latin typeface="Segoe UI"/>
              </a:defRPr>
            </a:pPr>
            <a:r>
              <a:t>Maintains detailed audit logs and reports for regulatory requirements.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E676"/>
                </a:solidFill>
                <a:latin typeface="Segoe UI"/>
              </a:defRPr>
            </a:pPr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54868"/>
            <a:ext cx="8229600" cy="4525963"/>
          </a:xfrm>
        </p:spPr>
        <p:txBody>
          <a:bodyPr wrap="square"/>
          <a:lstStyle/>
          <a:p>
            <a:endParaRPr/>
          </a:p>
          <a:p>
            <a:pPr>
              <a:defRPr sz="2200">
                <a:solidFill>
                  <a:srgbClr val="DCDCE6"/>
                </a:solidFill>
                <a:latin typeface="Segoe UI"/>
              </a:defRPr>
            </a:pPr>
            <a:r>
              <a:t>Real-time monitoring agents to detect drifts instantly without manual uploads.</a:t>
            </a:r>
          </a:p>
          <a:p>
            <a:pPr>
              <a:defRPr sz="2200">
                <a:solidFill>
                  <a:srgbClr val="DCDCE6"/>
                </a:solidFill>
                <a:latin typeface="Segoe UI"/>
              </a:defRPr>
            </a:pPr>
            <a:r>
              <a:t>Integration with popular CI/CD pipelines (e.g., GitHub Actions, Jenkins).</a:t>
            </a:r>
          </a:p>
          <a:p>
            <a:pPr>
              <a:defRPr sz="2200">
                <a:solidFill>
                  <a:srgbClr val="DCDCE6"/>
                </a:solidFill>
                <a:latin typeface="Segoe UI"/>
              </a:defRPr>
            </a:pPr>
            <a:r>
              <a:t>Auto-remediation capabilities to automatically revert unauthorized changes.</a:t>
            </a:r>
          </a:p>
          <a:p>
            <a:pPr>
              <a:defRPr sz="2200">
                <a:solidFill>
                  <a:srgbClr val="DCDCE6"/>
                </a:solidFill>
                <a:latin typeface="Segoe UI"/>
              </a:defRPr>
            </a:pPr>
            <a:r>
              <a:t>Support for cloud provider configurations (AWS, Azure, GCP) via APIs.</a:t>
            </a:r>
          </a:p>
          <a:p>
            <a:pPr>
              <a:defRPr sz="2200">
                <a:solidFill>
                  <a:srgbClr val="DCDCE6"/>
                </a:solidFill>
                <a:latin typeface="Segoe UI"/>
              </a:defRPr>
            </a:pPr>
            <a:r>
              <a:t>Advanced access control and role-based permissions for enterprise use.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1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E676"/>
                </a:solidFill>
                <a:latin typeface="Segoe UI"/>
              </a:defRPr>
            </a:pPr>
            <a:r>
              <a:rPr smtClean="0"/>
              <a:t>Conclusion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74323"/>
            <a:ext cx="8229600" cy="4525963"/>
          </a:xfrm>
        </p:spPr>
        <p:txBody>
          <a:bodyPr wrap="square"/>
          <a:lstStyle/>
          <a:p>
            <a:endParaRPr/>
          </a:p>
          <a:p>
            <a:pPr>
              <a:defRPr sz="2200">
                <a:solidFill>
                  <a:srgbClr val="DCDCE6"/>
                </a:solidFill>
                <a:latin typeface="Segoe UI"/>
              </a:defRPr>
            </a:pPr>
            <a:r>
              <a:t>The AI-Powered Configuration Drift Detector provides a modern, intelligent approach to infrastructure maintenance.</a:t>
            </a:r>
          </a:p>
          <a:p>
            <a:pPr>
              <a:defRPr sz="2200">
                <a:solidFill>
                  <a:srgbClr val="DCDCE6"/>
                </a:solidFill>
                <a:latin typeface="Segoe UI"/>
              </a:defRPr>
            </a:pPr>
            <a:r>
              <a:t>By combining traditional file comparison with Google Gemini's AI capabilities, it offers unparalleled context and risk assessment.</a:t>
            </a:r>
          </a:p>
          <a:p>
            <a:pPr>
              <a:defRPr sz="2200">
                <a:solidFill>
                  <a:srgbClr val="DCDCE6"/>
                </a:solidFill>
                <a:latin typeface="Segoe UI"/>
              </a:defRPr>
            </a:pPr>
            <a:r>
              <a:t>It significantly reduces downtime and enhances the security posture of IT environments.</a:t>
            </a:r>
          </a:p>
          <a:p>
            <a:pPr>
              <a:defRPr sz="2200">
                <a:solidFill>
                  <a:srgbClr val="DCDCE6"/>
                </a:solidFill>
                <a:latin typeface="Segoe UI"/>
              </a:defRPr>
            </a:pPr>
            <a:endParaRPr/>
          </a:p>
          <a:p>
            <a:pPr>
              <a:defRPr sz="2200">
                <a:solidFill>
                  <a:srgbClr val="DCDCE6"/>
                </a:solidFill>
                <a:latin typeface="Segoe UI"/>
              </a:defRPr>
            </a:pPr>
            <a:r>
              <a:t>Thank You!</a:t>
            </a:r>
          </a:p>
          <a:p>
            <a:pPr>
              <a:buNone/>
              <a:defRPr sz="2200">
                <a:solidFill>
                  <a:srgbClr val="DCDCE6"/>
                </a:solidFill>
                <a:latin typeface="Segoe UI"/>
              </a:defRPr>
            </a:pPr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2079</TotalTime>
  <Words>770</Words>
  <Application>Microsoft Macintosh PowerPoint</Application>
  <PresentationFormat>On-screen Show (4:3)</PresentationFormat>
  <Paragraphs>127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Configuration Drift Detector</vt:lpstr>
      <vt:lpstr>Meet the Developer Team</vt:lpstr>
      <vt:lpstr>Introduction &amp; Overview</vt:lpstr>
      <vt:lpstr>Problem Statement</vt:lpstr>
      <vt:lpstr>Proposed Solution</vt:lpstr>
      <vt:lpstr>Key Features</vt:lpstr>
      <vt:lpstr>How It Works (Workflow)</vt:lpstr>
      <vt:lpstr>Process Representation</vt:lpstr>
      <vt:lpstr>System Architecture</vt:lpstr>
      <vt:lpstr>AI Integration (Google Gemini API)</vt:lpstr>
      <vt:lpstr>Risk Scoring Methodology</vt:lpstr>
      <vt:lpstr>Technology Stack</vt:lpstr>
      <vt:lpstr>Project Structure</vt:lpstr>
      <vt:lpstr>Value Proposition &amp; Benefits</vt:lpstr>
      <vt:lpstr>Future Enhancements</vt:lpstr>
      <vt:lpstr>Conclusion</vt:lpstr>
    </vt:vector>
  </TitlesOfParts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AI-Powered Configuration Drift Detector</dc:title>
  <dc:creator>Charan</dc:creator>
  <dc:description>generated using python-pptx</dc:description>
  <cp:lastModifiedBy>Charan</cp:lastModifiedBy>
  <cp:revision>13</cp:revision>
  <dcterms:created xsi:type="dcterms:W3CDTF">2013-01-27T09:14:16Z</dcterms:created>
  <dcterms:modified xsi:type="dcterms:W3CDTF">2026-06-18T14:53:40Z</dcterms:modified>
</cp:coreProperties>
</file>